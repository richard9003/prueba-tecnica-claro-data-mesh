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2D"/>
                </a:solidFill>
                <a:latin typeface="Calibri"/>
              </a:defRPr>
            </a:pPr>
            <a:r>
              <a:rPr lang="es-ES" sz="1200" b="0" i="0" u="none" strike="noStrike">
                <a:solidFill>
                  <a:srgbClr val="141B2D"/>
                </a:solidFill>
                <a:latin typeface="Calibri"/>
              </a:rPr>
              <a:t>Clientes en riesgo Alto por segmento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en riesgo Alto</c:v>
                </c:pt>
              </c:strCache>
            </c:strRef>
          </c:tx>
          <c:spPr>
            <a:solidFill>
              <a:srgbClr val="E400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41B2D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Corporativo</c:v>
                </c:pt>
                <c:pt idx="1">
                  <c:v>Pyme</c:v>
                </c:pt>
                <c:pt idx="2">
                  <c:v>Residencial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63-4F5B-8366-950C44BBEA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2E4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972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D9DD7-2BB3-0D7A-4A42-3FA45211F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63B4D-4B8F-710C-25C5-30F576AF7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CDC82-EF9B-817A-D2CE-9E54EB589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0AE5B-9F51-74DF-75EC-775E497D55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84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A4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10332720" y="4023360"/>
            <a:ext cx="3840480" cy="3840480"/>
          </a:xfrm>
          <a:prstGeom prst="ellipse">
            <a:avLst/>
          </a:prstGeom>
          <a:solidFill>
            <a:srgbClr val="1E2A4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TÉCNICA · INGENIERO DATA MESH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360°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Abandono (Churn) y Oportunidad de Upsell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2011680" cy="0"/>
          </a:xfrm>
          <a:prstGeom prst="line">
            <a:avLst/>
          </a:prstGeom>
          <a:noFill/>
          <a:ln w="381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822960" y="3749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de datos certificado (L3) para el dominio Postpago Residencial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Medallion sobre Databricks + Unity Catalog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48920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Arquitectura e Ingeniería de Datos — Claro Colombia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 ejecutiva · 20 minutos</a:t>
            </a:r>
            <a:endParaRPr lang="en-US" sz="1100" dirty="0"/>
          </a:p>
        </p:txBody>
      </p:sp>
      <p:pic>
        <p:nvPicPr>
          <p:cNvPr id="14" name="Image 0" descr="/home/claude/icons/sitemap_red.png">
            <a:extLst>
              <a:ext uri="{FF2B5EF4-FFF2-40B4-BE49-F238E27FC236}">
                <a16:creationId xmlns:a16="http://schemas.microsoft.com/office/drawing/2014/main" id="{0D49D5CF-9CE0-862D-59FE-4C6A3374B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57" y="4747789"/>
            <a:ext cx="562823" cy="5628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0248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ENTENDIMIENTO DEL CASO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 de uso es, en esencia, Data Mesh aplicado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Postpago Residencial construye su primer producto de datos certificado (L3) para que Mercadeo Digital active campañas de retención y venta cruzada — sin depender de un equipo central de datos para cada entrega.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 txBox="1"/>
          <p:nvPr/>
        </p:nvSpPr>
        <p:spPr>
          <a:xfrm>
            <a:off x="749808" y="329184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 con dueño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749040"/>
            <a:ext cx="22037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Postpago Residencial es dueño de su dato: define el modelo, las reglas de churn/upsell y el ciclo de vida del producto.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83280" y="233172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3611880" y="26060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1" descr="/home/claude/icons/database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84448" y="329184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buNone/>
              <a:defRPr sz="1600" b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Datos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producto</a:t>
            </a:r>
            <a:endParaRPr lang="en-US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3749040"/>
            <a:ext cx="2203704" cy="1691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lnSpc>
                <a:spcPct val="120000"/>
              </a:lnSpc>
              <a:buNone/>
              <a:defRPr sz="140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cliente_360_churn_upsell se publica con contrato, SLA, owner y quality gate — no es una tabla más, es un producto con </a:t>
            </a:r>
            <a:r>
              <a:rPr lang="en-US" dirty="0" err="1"/>
              <a:t>consumidores</a:t>
            </a:r>
            <a:r>
              <a:rPr lang="en-US" dirty="0"/>
              <a:t>.</a:t>
            </a:r>
          </a:p>
        </p:txBody>
      </p:sp>
      <p:sp>
        <p:nvSpPr>
          <p:cNvPr id="15" name="Shape 11"/>
          <p:cNvSpPr/>
          <p:nvPr/>
        </p:nvSpPr>
        <p:spPr>
          <a:xfrm>
            <a:off x="6217920" y="233172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2"/>
          <p:cNvSpPr/>
          <p:nvPr/>
        </p:nvSpPr>
        <p:spPr>
          <a:xfrm>
            <a:off x="6446520" y="26060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3"/>
          <p:cNvSpPr txBox="1"/>
          <p:nvPr/>
        </p:nvSpPr>
        <p:spPr>
          <a:xfrm>
            <a:off x="6419088" y="329184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buNone/>
              <a:defRPr sz="1600" b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Plataforma self-service</a:t>
            </a:r>
          </a:p>
        </p:txBody>
      </p:sp>
      <p:sp>
        <p:nvSpPr>
          <p:cNvPr id="19" name="Text 14"/>
          <p:cNvSpPr txBox="1"/>
          <p:nvPr/>
        </p:nvSpPr>
        <p:spPr>
          <a:xfrm>
            <a:off x="6419088" y="3749040"/>
            <a:ext cx="2203704" cy="1691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lnSpc>
                <a:spcPct val="120000"/>
              </a:lnSpc>
              <a:buNone/>
              <a:defRPr sz="140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Databricks + Unity Catalog dan al dominio Bronze/Silver/Gold, cómputo y notebooks sin pedir infraestructura a TI cada </a:t>
            </a:r>
            <a:r>
              <a:rPr lang="en-US" dirty="0" err="1"/>
              <a:t>vez</a:t>
            </a:r>
            <a:r>
              <a:rPr lang="en-US" dirty="0"/>
              <a:t>.</a:t>
            </a:r>
          </a:p>
        </p:txBody>
      </p:sp>
      <p:sp>
        <p:nvSpPr>
          <p:cNvPr id="20" name="Shape 15"/>
          <p:cNvSpPr/>
          <p:nvPr/>
        </p:nvSpPr>
        <p:spPr>
          <a:xfrm>
            <a:off x="9052560" y="233172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6"/>
          <p:cNvSpPr/>
          <p:nvPr/>
        </p:nvSpPr>
        <p:spPr>
          <a:xfrm>
            <a:off x="9281160" y="26060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3" descr="/home/claude/icons/shield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432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53728" y="329184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buNone/>
              <a:defRPr sz="1600" b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 err="1"/>
              <a:t>Gobierno</a:t>
            </a:r>
            <a:r>
              <a:rPr lang="en-US" dirty="0"/>
              <a:t> </a:t>
            </a:r>
            <a:r>
              <a:rPr lang="en-US" dirty="0" err="1"/>
              <a:t>federado</a:t>
            </a:r>
            <a:endParaRPr lang="en-US" dirty="0"/>
          </a:p>
        </p:txBody>
      </p:sp>
      <p:sp>
        <p:nvSpPr>
          <p:cNvPr id="24" name="Text 18"/>
          <p:cNvSpPr txBox="1"/>
          <p:nvPr/>
        </p:nvSpPr>
        <p:spPr>
          <a:xfrm>
            <a:off x="9253728" y="3749040"/>
            <a:ext cx="2203704" cy="1691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lnSpc>
                <a:spcPct val="120000"/>
              </a:lnSpc>
              <a:buNone/>
              <a:defRPr sz="140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Unity Catalog centraliza catálogo, linaje y permisos; el dominio decide su modelo, pero bajo reglas corporativas </a:t>
            </a:r>
            <a:r>
              <a:rPr lang="en-US" dirty="0" err="1"/>
              <a:t>comunes</a:t>
            </a:r>
            <a:r>
              <a:rPr lang="en-US" dirty="0"/>
              <a:t>.</a:t>
            </a:r>
          </a:p>
        </p:txBody>
      </p:sp>
      <p:sp>
        <p:nvSpPr>
          <p:cNvPr id="25" name="Text 1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360 — Riesgo de Churn y Oportunidad de Upsell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8" name="Image 0" descr="/home/claude/icons/sitemap_red.png">
            <a:extLst>
              <a:ext uri="{FF2B5EF4-FFF2-40B4-BE49-F238E27FC236}">
                <a16:creationId xmlns:a16="http://schemas.microsoft.com/office/drawing/2014/main" id="{A6E60C1A-13FF-1F89-91CD-BA2B0EEEA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74" y="2683764"/>
            <a:ext cx="352044" cy="352044"/>
          </a:xfrm>
          <a:prstGeom prst="rect">
            <a:avLst/>
          </a:prstGeom>
        </p:spPr>
      </p:pic>
      <p:pic>
        <p:nvPicPr>
          <p:cNvPr id="30" name="Image 2" descr="/home/claude/icons/cogs_red.png">
            <a:extLst>
              <a:ext uri="{FF2B5EF4-FFF2-40B4-BE49-F238E27FC236}">
                <a16:creationId xmlns:a16="http://schemas.microsoft.com/office/drawing/2014/main" id="{42FAD413-BDF0-D652-FFE6-0A2C83471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8529" y="2683764"/>
            <a:ext cx="422910" cy="422910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1B158E15-7F42-89B7-A7D1-71715896C14D}"/>
              </a:ext>
            </a:extLst>
          </p:cNvPr>
          <p:cNvSpPr/>
          <p:nvPr/>
        </p:nvSpPr>
        <p:spPr>
          <a:xfrm>
            <a:off x="548640" y="676656"/>
            <a:ext cx="310896" cy="457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328" y="3088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9361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end-to-end: fuentes → Bronze → Silver → Gold → consumo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/home/claude/icons/database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2075688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5877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80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CSV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359152" y="2478024"/>
            <a:ext cx="265176" cy="164592"/>
          </a:xfrm>
          <a:prstGeom prst="rightArrow">
            <a:avLst/>
          </a:prstGeom>
          <a:solidFill>
            <a:srgbClr val="C9CED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2651760" y="187452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0" name="Image 1" descr="/home/claude/icons/layers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132" y="207568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25877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2880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l1_raw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462272" y="2478024"/>
            <a:ext cx="265176" cy="164592"/>
          </a:xfrm>
          <a:prstGeom prst="rightArrow">
            <a:avLst/>
          </a:prstGeom>
          <a:solidFill>
            <a:srgbClr val="C9CED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4754880" y="187452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" name="Image 2" descr="/home/claude/icons/search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5252" y="2075688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25877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2880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l2_curated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565392" y="2478024"/>
            <a:ext cx="265176" cy="164592"/>
          </a:xfrm>
          <a:prstGeom prst="rightArrow">
            <a:avLst/>
          </a:prstGeom>
          <a:solidFill>
            <a:srgbClr val="C9CED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4"/>
          <p:cNvSpPr/>
          <p:nvPr/>
        </p:nvSpPr>
        <p:spPr>
          <a:xfrm>
            <a:off x="6858000" y="187452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0" name="Image 3" descr="/home/claude/icons/check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8372" y="2075688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25877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2880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l3_certified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8668512" y="2478024"/>
            <a:ext cx="265176" cy="164592"/>
          </a:xfrm>
          <a:prstGeom prst="rightArrow">
            <a:avLst/>
          </a:prstGeom>
          <a:solidFill>
            <a:srgbClr val="C9CED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18"/>
          <p:cNvSpPr/>
          <p:nvPr/>
        </p:nvSpPr>
        <p:spPr>
          <a:xfrm>
            <a:off x="8961120" y="187452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5" name="Image 4" descr="/home/claude/icons/bullhorn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1492" y="2075688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961120" y="25877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8961120" y="2880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/ Data Cloud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617720" y="3566160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FFF4E5"/>
          </a:solidFill>
          <a:ln w="12700">
            <a:solidFill>
              <a:srgbClr val="F0C3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2"/>
          <p:cNvSpPr txBox="1"/>
          <p:nvPr/>
        </p:nvSpPr>
        <p:spPr>
          <a:xfrm>
            <a:off x="4617720" y="3566160"/>
            <a:ext cx="20574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Cuarentena (rechazados)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646420" y="3246120"/>
            <a:ext cx="0" cy="320040"/>
          </a:xfrm>
          <a:prstGeom prst="line">
            <a:avLst/>
          </a:prstGeom>
          <a:noFill/>
          <a:ln w="19050">
            <a:solidFill>
              <a:srgbClr val="F0C3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4"/>
          <p:cNvSpPr/>
          <p:nvPr/>
        </p:nvSpPr>
        <p:spPr>
          <a:xfrm>
            <a:off x="548640" y="43434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41B2D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Text 25"/>
          <p:cNvSpPr txBox="1"/>
          <p:nvPr/>
        </p:nvSpPr>
        <p:spPr>
          <a:xfrm>
            <a:off x="1207008" y="4526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calidad en cada capa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777240" y="491032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preserva el dato crudo · </a:t>
            </a:r>
            <a:r>
              <a:rPr lang="es-ES" sz="105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aísla en cuarentena: usos con </a:t>
            </a:r>
            <a:r>
              <a:rPr lang="es-ES" sz="1050" dirty="0" err="1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id_cliente</a:t>
            </a:r>
            <a:r>
              <a:rPr lang="es-ES" sz="105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inexistente y consumos negativos.</a:t>
            </a:r>
            <a:r>
              <a:rPr lang="en-US" sz="105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Gold ejecuta un Quality Gate que bloquea la publicación si falla una regla crítica.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035040" y="43434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36" name="Image 6" descr="/home/claude/icons/contract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4544568"/>
            <a:ext cx="429768" cy="42976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693408" y="4526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 aplicado en la publicación Gold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6263640" y="491032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cliente_360_churn_upsell solo se certifica y publica si supera el quality gate del data contract; de lo contrario se conserva la última versión válida.</a:t>
            </a:r>
            <a:endParaRPr lang="en-US" sz="1050" dirty="0"/>
          </a:p>
        </p:txBody>
      </p:sp>
      <p:sp>
        <p:nvSpPr>
          <p:cNvPr id="39" name="Text 30"/>
          <p:cNvSpPr txBox="1"/>
          <p:nvPr/>
        </p:nvSpPr>
        <p:spPr>
          <a:xfrm>
            <a:off x="54864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Gobierno: Unity Catalog administra catálogo, permisos, linaje y auditoría en las tres zonas (L1 → L2 → L3).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360 — Riesgo de Churn y Oportunidad de Upsell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75B26020-C435-2AE6-3205-89AEBF7F6BBC}"/>
              </a:ext>
            </a:extLst>
          </p:cNvPr>
          <p:cNvSpPr/>
          <p:nvPr/>
        </p:nvSpPr>
        <p:spPr>
          <a:xfrm>
            <a:off x="548640" y="676656"/>
            <a:ext cx="310896" cy="457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4" name="Image 0" descr="/home/claude/icons/warning_red.png">
            <a:extLst>
              <a:ext uri="{FF2B5EF4-FFF2-40B4-BE49-F238E27FC236}">
                <a16:creationId xmlns:a16="http://schemas.microsoft.com/office/drawing/2014/main" id="{D05BC6F6-D80B-7591-E45F-184B819E43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955" y="4544567"/>
            <a:ext cx="365761" cy="3657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78F44-5090-C6C9-DFD3-C07D220E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625260-02BC-D3D7-92B8-08F80661D826}"/>
              </a:ext>
            </a:extLst>
          </p:cNvPr>
          <p:cNvSpPr txBox="1"/>
          <p:nvPr/>
        </p:nvSpPr>
        <p:spPr>
          <a:xfrm>
            <a:off x="465328" y="3088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02.1 · ARQUITECTURA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98DD23-3423-28F6-C330-324633012590}"/>
              </a:ext>
            </a:extLst>
          </p:cNvPr>
          <p:cNvSpPr txBox="1"/>
          <p:nvPr/>
        </p:nvSpPr>
        <p:spPr>
          <a:xfrm>
            <a:off x="465328" y="751131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360 — </a:t>
            </a:r>
            <a:r>
              <a:rPr lang="en-US" sz="2600" b="1" dirty="0" err="1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2600" b="1" dirty="0" err="1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</a:t>
            </a: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Datos </a:t>
            </a:r>
            <a:r>
              <a:rPr lang="en-US" sz="2600" b="1" dirty="0" err="1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Certificado</a:t>
            </a:r>
            <a:endParaRPr lang="en-US" sz="2600" b="1" dirty="0">
              <a:solidFill>
                <a:srgbClr val="141B2D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45F2A851-E117-A244-E7BC-037A876C0A68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360 — Riesgo de Churn y Oportunidad de Upsell</a:t>
            </a:r>
            <a:endParaRPr lang="en-US" sz="90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C579F1E3-340D-9F9D-3BB6-F3C79F2FD9E4}"/>
              </a:ext>
            </a:extLst>
          </p:cNvPr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3C139638-33DC-4A4F-5768-6B4651C20AD3}"/>
              </a:ext>
            </a:extLst>
          </p:cNvPr>
          <p:cNvSpPr/>
          <p:nvPr/>
        </p:nvSpPr>
        <p:spPr>
          <a:xfrm>
            <a:off x="548640" y="676656"/>
            <a:ext cx="310896" cy="457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8743F00F-D30B-7BE2-6BB3-1C812D443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20" y="1442322"/>
            <a:ext cx="10842172" cy="484651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01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4665" y="3576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CALIDAD DE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64665" y="91873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de calidad encontrados en el perfilamiento Bronze</a:t>
            </a:r>
            <a:endParaRPr lang="en-US" sz="26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base analizados: 50 clientes · 50 productos · 50 usos · 50 PQR   —   todos los tratamientos quedan trazados (valor original + método aplicado).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360 — Riesgo de Churn y Oportunidad de Upsell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15F6EB1-1336-53F1-AAA7-32012E612273}"/>
              </a:ext>
            </a:extLst>
          </p:cNvPr>
          <p:cNvGrpSpPr/>
          <p:nvPr/>
        </p:nvGrpSpPr>
        <p:grpSpPr>
          <a:xfrm>
            <a:off x="525780" y="1940580"/>
            <a:ext cx="10744200" cy="3611880"/>
            <a:chOff x="548640" y="1600200"/>
            <a:chExt cx="10744200" cy="3611880"/>
          </a:xfrm>
        </p:grpSpPr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DB6D4DEA-4F61-5675-8E72-15AE089D60E5}"/>
                </a:ext>
              </a:extLst>
            </p:cNvPr>
            <p:cNvGrpSpPr/>
            <p:nvPr/>
          </p:nvGrpSpPr>
          <p:grpSpPr>
            <a:xfrm>
              <a:off x="548640" y="1600200"/>
              <a:ext cx="10744200" cy="1691640"/>
              <a:chOff x="548640" y="1600200"/>
              <a:chExt cx="10744200" cy="1691640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548640" y="1600200"/>
                <a:ext cx="3429000" cy="1691640"/>
              </a:xfrm>
              <a:prstGeom prst="roundRect">
                <a:avLst>
                  <a:gd name="adj" fmla="val 4324"/>
                </a:avLst>
              </a:prstGeom>
              <a:solidFill>
                <a:srgbClr val="F4F5F9"/>
              </a:solidFill>
              <a:ln w="12700">
                <a:solidFill>
                  <a:srgbClr val="E2E4EC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 3"/>
              <p:cNvSpPr txBox="1"/>
              <p:nvPr/>
            </p:nvSpPr>
            <p:spPr>
              <a:xfrm>
                <a:off x="2240280" y="1673352"/>
                <a:ext cx="1554480" cy="6858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r">
                  <a:buNone/>
                </a:pPr>
                <a:r>
                  <a:rPr lang="en-US" sz="4000" b="1" dirty="0">
                    <a:solidFill>
                      <a:srgbClr val="141B2D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2</a:t>
                </a:r>
                <a:endParaRPr lang="en-US" sz="4000" dirty="0"/>
              </a:p>
            </p:txBody>
          </p:sp>
          <p:sp>
            <p:nvSpPr>
              <p:cNvPr id="9" name="Shape 6"/>
              <p:cNvSpPr/>
              <p:nvPr/>
            </p:nvSpPr>
            <p:spPr>
              <a:xfrm>
                <a:off x="4206240" y="1600200"/>
                <a:ext cx="3429000" cy="1691640"/>
              </a:xfrm>
              <a:prstGeom prst="roundRect">
                <a:avLst>
                  <a:gd name="adj" fmla="val 4324"/>
                </a:avLst>
              </a:prstGeom>
              <a:solidFill>
                <a:srgbClr val="F4F5F9"/>
              </a:solidFill>
              <a:ln w="12700">
                <a:solidFill>
                  <a:srgbClr val="E2E4EC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 7"/>
              <p:cNvSpPr txBox="1"/>
              <p:nvPr/>
            </p:nvSpPr>
            <p:spPr>
              <a:xfrm>
                <a:off x="5897880" y="1673352"/>
                <a:ext cx="1554480" cy="6858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r">
                  <a:buNone/>
                </a:pPr>
                <a:r>
                  <a:rPr lang="en-US" sz="4000" b="1" dirty="0">
                    <a:solidFill>
                      <a:srgbClr val="141B2D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3</a:t>
                </a:r>
                <a:endParaRPr lang="en-US" sz="4000" dirty="0"/>
              </a:p>
            </p:txBody>
          </p:sp>
          <p:sp>
            <p:nvSpPr>
              <p:cNvPr id="14" name="Shape 10"/>
              <p:cNvSpPr/>
              <p:nvPr/>
            </p:nvSpPr>
            <p:spPr>
              <a:xfrm>
                <a:off x="7863840" y="1600200"/>
                <a:ext cx="3429000" cy="1691640"/>
              </a:xfrm>
              <a:prstGeom prst="roundRect">
                <a:avLst>
                  <a:gd name="adj" fmla="val 4324"/>
                </a:avLst>
              </a:prstGeom>
              <a:solidFill>
                <a:srgbClr val="F4F5F9"/>
              </a:solidFill>
              <a:ln w="12700">
                <a:solidFill>
                  <a:srgbClr val="E2E4EC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6" name="Text 11"/>
              <p:cNvSpPr txBox="1"/>
              <p:nvPr/>
            </p:nvSpPr>
            <p:spPr>
              <a:xfrm>
                <a:off x="9555480" y="1673352"/>
                <a:ext cx="1554480" cy="6858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r">
                  <a:buNone/>
                </a:pPr>
                <a:r>
                  <a:rPr lang="en-US" sz="4000" b="1" dirty="0">
                    <a:solidFill>
                      <a:srgbClr val="141B2D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2</a:t>
                </a:r>
                <a:endParaRPr lang="en-US" sz="4000" dirty="0"/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47B50BB5-E4D6-62F8-45E5-7D66007C06EE}"/>
                </a:ext>
              </a:extLst>
            </p:cNvPr>
            <p:cNvGrpSpPr/>
            <p:nvPr/>
          </p:nvGrpSpPr>
          <p:grpSpPr>
            <a:xfrm>
              <a:off x="548640" y="1856232"/>
              <a:ext cx="10744200" cy="3355848"/>
              <a:chOff x="548640" y="1856232"/>
              <a:chExt cx="10744200" cy="3355848"/>
            </a:xfrm>
          </p:grpSpPr>
          <p:sp>
            <p:nvSpPr>
              <p:cNvPr id="19" name="Shape 14"/>
              <p:cNvSpPr/>
              <p:nvPr/>
            </p:nvSpPr>
            <p:spPr>
              <a:xfrm>
                <a:off x="548640" y="3520440"/>
                <a:ext cx="3429000" cy="1691640"/>
              </a:xfrm>
              <a:prstGeom prst="roundRect">
                <a:avLst>
                  <a:gd name="adj" fmla="val 4324"/>
                </a:avLst>
              </a:prstGeom>
              <a:solidFill>
                <a:srgbClr val="F4F5F9"/>
              </a:solidFill>
              <a:ln w="12700">
                <a:solidFill>
                  <a:srgbClr val="E2E4EC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4" name="Shape 18"/>
              <p:cNvSpPr/>
              <p:nvPr/>
            </p:nvSpPr>
            <p:spPr>
              <a:xfrm>
                <a:off x="4206240" y="3520440"/>
                <a:ext cx="3429000" cy="1691640"/>
              </a:xfrm>
              <a:prstGeom prst="roundRect">
                <a:avLst>
                  <a:gd name="adj" fmla="val 4324"/>
                </a:avLst>
              </a:prstGeom>
              <a:solidFill>
                <a:srgbClr val="F4F5F9"/>
              </a:solidFill>
              <a:ln w="12700">
                <a:solidFill>
                  <a:srgbClr val="E2E4EC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9" name="Shape 22"/>
              <p:cNvSpPr/>
              <p:nvPr/>
            </p:nvSpPr>
            <p:spPr>
              <a:xfrm>
                <a:off x="7863840" y="3520440"/>
                <a:ext cx="3429000" cy="1691640"/>
              </a:xfrm>
              <a:prstGeom prst="roundRect">
                <a:avLst>
                  <a:gd name="adj" fmla="val 4324"/>
                </a:avLst>
              </a:prstGeom>
              <a:solidFill>
                <a:srgbClr val="F4F5F9"/>
              </a:solidFill>
              <a:ln w="12700">
                <a:solidFill>
                  <a:srgbClr val="E2E4EC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s-CO"/>
              </a:p>
            </p:txBody>
          </p:sp>
          <p:grpSp>
            <p:nvGrpSpPr>
              <p:cNvPr id="43" name="Grupo 42">
                <a:extLst>
                  <a:ext uri="{FF2B5EF4-FFF2-40B4-BE49-F238E27FC236}">
                    <a16:creationId xmlns:a16="http://schemas.microsoft.com/office/drawing/2014/main" id="{B4575A23-2435-5C8E-4A85-410053B4B605}"/>
                  </a:ext>
                </a:extLst>
              </p:cNvPr>
              <p:cNvGrpSpPr/>
              <p:nvPr/>
            </p:nvGrpSpPr>
            <p:grpSpPr>
              <a:xfrm>
                <a:off x="804672" y="1856232"/>
                <a:ext cx="10305288" cy="3291840"/>
                <a:chOff x="804672" y="1856232"/>
                <a:chExt cx="10305288" cy="3291840"/>
              </a:xfrm>
            </p:grpSpPr>
            <p:sp>
              <p:nvSpPr>
                <p:cNvPr id="7" name="Text 4"/>
                <p:cNvSpPr txBox="1"/>
                <p:nvPr/>
              </p:nvSpPr>
              <p:spPr>
                <a:xfrm>
                  <a:off x="804672" y="2468880"/>
                  <a:ext cx="29260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600" b="1" dirty="0">
                      <a:solidFill>
                        <a:srgbClr val="141B2D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Duplicados exactos</a:t>
                  </a:r>
                  <a:endParaRPr lang="en-US" sz="1600" dirty="0"/>
                </a:p>
              </p:txBody>
            </p:sp>
            <p:sp>
              <p:nvSpPr>
                <p:cNvPr id="8" name="Text 5"/>
                <p:cNvSpPr txBox="1"/>
                <p:nvPr/>
              </p:nvSpPr>
              <p:spPr>
                <a:xfrm>
                  <a:off x="804672" y="2816352"/>
                  <a:ext cx="2926080" cy="4114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200" dirty="0">
                      <a:solidFill>
                        <a:srgbClr val="6B7185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dim_cliente</a:t>
                  </a:r>
                  <a:endParaRPr lang="en-US" sz="1200" dirty="0"/>
                </a:p>
              </p:txBody>
            </p:sp>
            <p:pic>
              <p:nvPicPr>
                <p:cNvPr id="10" name="Image 1" descr="/home/claude/icons/search_red.png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62272" y="1856232"/>
                  <a:ext cx="365760" cy="365760"/>
                </a:xfrm>
                <a:prstGeom prst="rect">
                  <a:avLst/>
                </a:prstGeom>
              </p:spPr>
            </p:pic>
            <p:sp>
              <p:nvSpPr>
                <p:cNvPr id="12" name="Text 8"/>
                <p:cNvSpPr txBox="1"/>
                <p:nvPr/>
              </p:nvSpPr>
              <p:spPr>
                <a:xfrm>
                  <a:off x="4462272" y="2468880"/>
                  <a:ext cx="29260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>
                  <a:lvl1pPr indent="0">
                    <a:buNone/>
                    <a:defRPr sz="1600" b="1">
                      <a:solidFill>
                        <a:srgbClr val="141B2D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defRPr>
                  </a:lvl1pPr>
                </a:lstStyle>
                <a:p>
                  <a:r>
                    <a:rPr lang="en-US" dirty="0"/>
                    <a:t>Ciudades vacías/</a:t>
                  </a:r>
                  <a:r>
                    <a:rPr lang="en-US" dirty="0" err="1"/>
                    <a:t>nulas</a:t>
                  </a:r>
                  <a:endParaRPr lang="en-US" dirty="0"/>
                </a:p>
              </p:txBody>
            </p:sp>
            <p:sp>
              <p:nvSpPr>
                <p:cNvPr id="13" name="Text 9"/>
                <p:cNvSpPr txBox="1"/>
                <p:nvPr/>
              </p:nvSpPr>
              <p:spPr>
                <a:xfrm>
                  <a:off x="4462272" y="2816352"/>
                  <a:ext cx="2926080" cy="4114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>
                  <a:lvl1pPr indent="0">
                    <a:buNone/>
                    <a:defRPr sz="1200">
                      <a:solidFill>
                        <a:srgbClr val="6B7185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defRPr>
                  </a:lvl1pPr>
                </a:lstStyle>
                <a:p>
                  <a:r>
                    <a:rPr lang="en-US" dirty="0"/>
                    <a:t>tratadas como “No </a:t>
                  </a:r>
                  <a:r>
                    <a:rPr lang="en-US" dirty="0" err="1"/>
                    <a:t>informado</a:t>
                  </a:r>
                  <a:r>
                    <a:rPr lang="en-US" dirty="0"/>
                    <a:t>”</a:t>
                  </a:r>
                </a:p>
              </p:txBody>
            </p:sp>
            <p:pic>
              <p:nvPicPr>
                <p:cNvPr id="15" name="Image 2" descr="/home/claude/icons/chart_red.png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19872" y="1856232"/>
                  <a:ext cx="365760" cy="365760"/>
                </a:xfrm>
                <a:prstGeom prst="rect">
                  <a:avLst/>
                </a:prstGeom>
              </p:spPr>
            </p:pic>
            <p:sp>
              <p:nvSpPr>
                <p:cNvPr id="17" name="Text 12"/>
                <p:cNvSpPr txBox="1"/>
                <p:nvPr/>
              </p:nvSpPr>
              <p:spPr>
                <a:xfrm>
                  <a:off x="8119872" y="2468880"/>
                  <a:ext cx="29260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>
                  <a:lvl1pPr indent="0">
                    <a:buNone/>
                    <a:defRPr sz="1600" b="1">
                      <a:solidFill>
                        <a:srgbClr val="141B2D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defRPr>
                  </a:lvl1pPr>
                </a:lstStyle>
                <a:p>
                  <a:r>
                    <a:rPr lang="en-US" dirty="0" err="1"/>
                    <a:t>Estratos</a:t>
                  </a:r>
                  <a:r>
                    <a:rPr lang="en-US" dirty="0"/>
                    <a:t> </a:t>
                  </a:r>
                  <a:r>
                    <a:rPr lang="en-US" dirty="0" err="1"/>
                    <a:t>nulos</a:t>
                  </a:r>
                  <a:endParaRPr lang="en-US" dirty="0"/>
                </a:p>
              </p:txBody>
            </p:sp>
            <p:sp>
              <p:nvSpPr>
                <p:cNvPr id="18" name="Text 13"/>
                <p:cNvSpPr txBox="1"/>
                <p:nvPr/>
              </p:nvSpPr>
              <p:spPr>
                <a:xfrm>
                  <a:off x="8119872" y="2816352"/>
                  <a:ext cx="2926080" cy="4114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>
                  <a:lvl1pPr indent="0">
                    <a:buNone/>
                    <a:defRPr sz="1200">
                      <a:solidFill>
                        <a:srgbClr val="6B7185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defRPr>
                  </a:lvl1pPr>
                </a:lstStyle>
                <a:p>
                  <a:r>
                    <a:rPr lang="en-US" dirty="0"/>
                    <a:t>imputados con </a:t>
                  </a:r>
                  <a:r>
                    <a:rPr lang="en-US" dirty="0" err="1"/>
                    <a:t>mediana</a:t>
                  </a:r>
                  <a:r>
                    <a:rPr lang="en-US" dirty="0"/>
                    <a:t> global</a:t>
                  </a:r>
                </a:p>
              </p:txBody>
            </p:sp>
            <p:pic>
              <p:nvPicPr>
                <p:cNvPr id="20" name="Image 3" descr="/home/claude/icons/database_red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4672" y="3776472"/>
                  <a:ext cx="365760" cy="365760"/>
                </a:xfrm>
                <a:prstGeom prst="rect">
                  <a:avLst/>
                </a:prstGeom>
              </p:spPr>
            </p:pic>
            <p:sp>
              <p:nvSpPr>
                <p:cNvPr id="21" name="Text 15"/>
                <p:cNvSpPr txBox="1"/>
                <p:nvPr/>
              </p:nvSpPr>
              <p:spPr>
                <a:xfrm>
                  <a:off x="2240280" y="3593592"/>
                  <a:ext cx="1554480" cy="6858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r">
                    <a:buNone/>
                  </a:pPr>
                  <a:r>
                    <a:rPr lang="en-US" sz="4000" b="1" dirty="0">
                      <a:solidFill>
                        <a:srgbClr val="141B2D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2</a:t>
                  </a:r>
                  <a:endParaRPr lang="en-US" sz="4000" dirty="0"/>
                </a:p>
              </p:txBody>
            </p:sp>
            <p:sp>
              <p:nvSpPr>
                <p:cNvPr id="22" name="Text 16"/>
                <p:cNvSpPr txBox="1"/>
                <p:nvPr/>
              </p:nvSpPr>
              <p:spPr>
                <a:xfrm>
                  <a:off x="804672" y="4389120"/>
                  <a:ext cx="29260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>
                  <a:lvl1pPr indent="0">
                    <a:buNone/>
                    <a:defRPr sz="1600" b="1">
                      <a:solidFill>
                        <a:srgbClr val="141B2D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defRPr>
                  </a:lvl1pPr>
                </a:lstStyle>
                <a:p>
                  <a:r>
                    <a:rPr lang="en-US" dirty="0" err="1"/>
                    <a:t>Usos</a:t>
                  </a:r>
                  <a:r>
                    <a:rPr lang="en-US" dirty="0"/>
                    <a:t> </a:t>
                  </a:r>
                  <a:r>
                    <a:rPr lang="en-US" dirty="0" err="1"/>
                    <a:t>huérfanos</a:t>
                  </a:r>
                  <a:endParaRPr lang="en-US" dirty="0"/>
                </a:p>
              </p:txBody>
            </p:sp>
            <p:sp>
              <p:nvSpPr>
                <p:cNvPr id="23" name="Text 17"/>
                <p:cNvSpPr txBox="1"/>
                <p:nvPr/>
              </p:nvSpPr>
              <p:spPr>
                <a:xfrm>
                  <a:off x="804672" y="4736592"/>
                  <a:ext cx="2926080" cy="4114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>
                  <a:lvl1pPr indent="0">
                    <a:buNone/>
                    <a:defRPr sz="1200">
                      <a:solidFill>
                        <a:srgbClr val="6B7185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defRPr>
                  </a:lvl1pPr>
                </a:lstStyle>
                <a:p>
                  <a:r>
                    <a:rPr lang="en-US" dirty="0"/>
                    <a:t>id_cliente inexistente → </a:t>
                  </a:r>
                  <a:r>
                    <a:rPr lang="en-US" dirty="0" err="1"/>
                    <a:t>cuarentena</a:t>
                  </a:r>
                  <a:endParaRPr lang="en-US" dirty="0"/>
                </a:p>
              </p:txBody>
            </p:sp>
            <p:sp>
              <p:nvSpPr>
                <p:cNvPr id="26" name="Text 19"/>
                <p:cNvSpPr txBox="1"/>
                <p:nvPr/>
              </p:nvSpPr>
              <p:spPr>
                <a:xfrm>
                  <a:off x="5897880" y="3593592"/>
                  <a:ext cx="1554480" cy="6858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r">
                    <a:buNone/>
                  </a:pPr>
                  <a:r>
                    <a:rPr lang="en-US" sz="4000" b="1" dirty="0">
                      <a:solidFill>
                        <a:srgbClr val="141B2D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1</a:t>
                  </a:r>
                  <a:endParaRPr lang="en-US" sz="4000" dirty="0"/>
                </a:p>
              </p:txBody>
            </p:sp>
            <p:sp>
              <p:nvSpPr>
                <p:cNvPr id="27" name="Text 20"/>
                <p:cNvSpPr txBox="1"/>
                <p:nvPr/>
              </p:nvSpPr>
              <p:spPr>
                <a:xfrm>
                  <a:off x="4462272" y="4389120"/>
                  <a:ext cx="29260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>
                  <a:lvl1pPr indent="0">
                    <a:buNone/>
                    <a:defRPr sz="1600" b="1">
                      <a:solidFill>
                        <a:srgbClr val="141B2D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defRPr>
                  </a:lvl1pPr>
                </a:lstStyle>
                <a:p>
                  <a:r>
                    <a:rPr lang="en-US" dirty="0" err="1"/>
                    <a:t>Consumo</a:t>
                  </a:r>
                  <a:r>
                    <a:rPr lang="en-US" dirty="0"/>
                    <a:t> </a:t>
                  </a:r>
                  <a:r>
                    <a:rPr lang="en-US" dirty="0" err="1"/>
                    <a:t>negativo</a:t>
                  </a:r>
                  <a:endParaRPr lang="en-US" dirty="0"/>
                </a:p>
              </p:txBody>
            </p:sp>
            <p:sp>
              <p:nvSpPr>
                <p:cNvPr id="28" name="Text 21"/>
                <p:cNvSpPr txBox="1"/>
                <p:nvPr/>
              </p:nvSpPr>
              <p:spPr>
                <a:xfrm>
                  <a:off x="4462272" y="4736592"/>
                  <a:ext cx="2926080" cy="4114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>
                  <a:lvl1pPr indent="0">
                    <a:buNone/>
                    <a:defRPr sz="1200">
                      <a:solidFill>
                        <a:srgbClr val="6B7185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defRPr>
                  </a:lvl1pPr>
                </a:lstStyle>
                <a:p>
                  <a:r>
                    <a:rPr lang="en-US" dirty="0"/>
                    <a:t>descartado a </a:t>
                  </a:r>
                  <a:r>
                    <a:rPr lang="en-US" dirty="0" err="1"/>
                    <a:t>cuarentena</a:t>
                  </a:r>
                  <a:endParaRPr lang="en-US" dirty="0"/>
                </a:p>
              </p:txBody>
            </p:sp>
            <p:pic>
              <p:nvPicPr>
                <p:cNvPr id="30" name="Image 5" descr="/home/claude/icons/clock_red.png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119872" y="3776472"/>
                  <a:ext cx="365760" cy="365760"/>
                </a:xfrm>
                <a:prstGeom prst="rect">
                  <a:avLst/>
                </a:prstGeom>
              </p:spPr>
            </p:pic>
            <p:sp>
              <p:nvSpPr>
                <p:cNvPr id="31" name="Text 23"/>
                <p:cNvSpPr txBox="1"/>
                <p:nvPr/>
              </p:nvSpPr>
              <p:spPr>
                <a:xfrm>
                  <a:off x="9555480" y="3593592"/>
                  <a:ext cx="1554480" cy="6858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r">
                    <a:buNone/>
                  </a:pPr>
                  <a:r>
                    <a:rPr lang="en-US" sz="4000" b="1" dirty="0">
                      <a:solidFill>
                        <a:srgbClr val="141B2D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1</a:t>
                  </a:r>
                  <a:endParaRPr lang="en-US" sz="4000" dirty="0"/>
                </a:p>
              </p:txBody>
            </p:sp>
            <p:sp>
              <p:nvSpPr>
                <p:cNvPr id="32" name="Text 24"/>
                <p:cNvSpPr txBox="1"/>
                <p:nvPr/>
              </p:nvSpPr>
              <p:spPr>
                <a:xfrm>
                  <a:off x="8119872" y="4389120"/>
                  <a:ext cx="29260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>
                  <a:lvl1pPr indent="0">
                    <a:buNone/>
                    <a:defRPr sz="1600" b="1">
                      <a:solidFill>
                        <a:srgbClr val="141B2D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defRPr>
                  </a:lvl1pPr>
                </a:lstStyle>
                <a:p>
                  <a:r>
                    <a:rPr lang="en-US" dirty="0"/>
                    <a:t>Fecha PQR no ISO</a:t>
                  </a:r>
                </a:p>
              </p:txBody>
            </p:sp>
            <p:sp>
              <p:nvSpPr>
                <p:cNvPr id="33" name="Text 25"/>
                <p:cNvSpPr txBox="1"/>
                <p:nvPr/>
              </p:nvSpPr>
              <p:spPr>
                <a:xfrm>
                  <a:off x="8119872" y="4736592"/>
                  <a:ext cx="2926080" cy="4114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>
                  <a:lvl1pPr indent="0">
                    <a:buNone/>
                    <a:defRPr sz="1200">
                      <a:solidFill>
                        <a:srgbClr val="6B7185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defRPr>
                  </a:lvl1pPr>
                </a:lstStyle>
                <a:p>
                  <a:r>
                    <a:rPr lang="en-US" dirty="0"/>
                    <a:t>formato dd/MM/</a:t>
                  </a:r>
                  <a:r>
                    <a:rPr lang="en-US" dirty="0" err="1"/>
                    <a:t>yyyy</a:t>
                  </a:r>
                  <a:r>
                    <a:rPr lang="en-US" dirty="0"/>
                    <a:t> </a:t>
                  </a:r>
                  <a:r>
                    <a:rPr lang="en-US" dirty="0" err="1"/>
                    <a:t>estandarizado</a:t>
                  </a:r>
                  <a:endParaRPr lang="en-US" dirty="0"/>
                </a:p>
              </p:txBody>
            </p:sp>
            <p:pic>
              <p:nvPicPr>
                <p:cNvPr id="38" name="Image 0" descr="/home/claude/icons/warning_red.png">
                  <a:extLst>
                    <a:ext uri="{FF2B5EF4-FFF2-40B4-BE49-F238E27FC236}">
                      <a16:creationId xmlns:a16="http://schemas.microsoft.com/office/drawing/2014/main" id="{CBB09FD6-A4FC-EF1F-B5BD-9078BB1350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9894" y="1856232"/>
                  <a:ext cx="464291" cy="464291"/>
                </a:xfrm>
                <a:prstGeom prst="rect">
                  <a:avLst/>
                </a:prstGeom>
              </p:spPr>
            </p:pic>
            <p:pic>
              <p:nvPicPr>
                <p:cNvPr id="40" name="Image 0" descr="/home/claude/icons/warning_red.png">
                  <a:extLst>
                    <a:ext uri="{FF2B5EF4-FFF2-40B4-BE49-F238E27FC236}">
                      <a16:creationId xmlns:a16="http://schemas.microsoft.com/office/drawing/2014/main" id="{0D3D9EBF-AF15-F390-8DC6-99A1972698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13006" y="3696229"/>
                  <a:ext cx="464291" cy="464291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42" name="Shape 1">
            <a:extLst>
              <a:ext uri="{FF2B5EF4-FFF2-40B4-BE49-F238E27FC236}">
                <a16:creationId xmlns:a16="http://schemas.microsoft.com/office/drawing/2014/main" id="{CA48E654-4E25-91F9-03EA-95E42B511851}"/>
              </a:ext>
            </a:extLst>
          </p:cNvPr>
          <p:cNvSpPr/>
          <p:nvPr/>
        </p:nvSpPr>
        <p:spPr>
          <a:xfrm>
            <a:off x="548640" y="676656"/>
            <a:ext cx="310896" cy="457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3627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MODELO Y REGLAS DE NEGOCIO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338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registro por cliente activo, con dos indicadores clave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 de cliente_360_churn_upsell:  </a:t>
            </a:r>
            <a:r>
              <a:rPr lang="en-US" sz="125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por cliente con estado_cliente = 'Activo', tenga o no uso o PQR registrados.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524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257800" cy="502920"/>
          </a:xfrm>
          <a:prstGeom prst="rect">
            <a:avLst/>
          </a:prstGeom>
          <a:solidFill>
            <a:srgbClr val="14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churn_risk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C0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 txBox="1"/>
          <p:nvPr/>
        </p:nvSpPr>
        <p:spPr>
          <a:xfrm>
            <a:off x="777240" y="28346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8346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PQR Queja/Reclamo en últimos 4 meses, o incidencias de red promedio ≥3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6118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 txBox="1"/>
          <p:nvPr/>
        </p:nvSpPr>
        <p:spPr>
          <a:xfrm>
            <a:off x="777240" y="361188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6118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lnSpc>
                <a:spcPct val="115000"/>
              </a:lnSpc>
              <a:buNone/>
              <a:defRPr sz="120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1 PQR Queja/Reclamo en últimos 4 meses, o incidencias promedio entre 1 y &lt;3</a:t>
            </a:r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C8A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 txBox="1"/>
          <p:nvPr/>
        </p:nvSpPr>
        <p:spPr>
          <a:xfrm>
            <a:off x="777240" y="43891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438912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lnSpc>
                <a:spcPct val="115000"/>
              </a:lnSpc>
              <a:buNone/>
              <a:defRPr sz="120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Cualquier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caso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2852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4 meses calculada desde MAX(fecha_apertura) en PQR Silver → resultado reproducible al reprocesar.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148840"/>
            <a:ext cx="52578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524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035040" y="2148840"/>
            <a:ext cx="5257800" cy="5029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 txBox="1"/>
          <p:nvPr/>
        </p:nvSpPr>
        <p:spPr>
          <a:xfrm>
            <a:off x="6263640" y="21488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upsell_flag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880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consumo_promedio_gb &gt; capacidad_gb × 1.80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4290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lnSpc>
                <a:spcPct val="115000"/>
              </a:lnSpc>
              <a:buNone/>
              <a:defRPr sz="120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capacidad_gb se deriva del nombre del producto en dim_producto_silver (ej. “Plan 30GB” → 30).</a:t>
            </a:r>
          </a:p>
        </p:txBody>
      </p:sp>
      <p:sp>
        <p:nvSpPr>
          <p:cNvPr id="23" name="Shape 21"/>
          <p:cNvSpPr/>
          <p:nvPr/>
        </p:nvSpPr>
        <p:spPr>
          <a:xfrm>
            <a:off x="6263640" y="402336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4" name="Image 0" descr="/home/claude/icons/bulb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197096"/>
            <a:ext cx="310896" cy="31089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858000" y="4114800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identifica capacidad, se publica como false (no null) y se registra como métrica de monitoreo — no se activa upsell sobre una base desconocida.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263640" y="52852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lnSpc>
                <a:spcPct val="115000"/>
              </a:lnSpc>
              <a:buNone/>
              <a:defRPr sz="1000" i="1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Diseño clave: uso y PQR se agregan por separado antes del join con clientes, evitando fan-out y distorsión de promedios/</a:t>
            </a:r>
            <a:r>
              <a:rPr lang="en-US" dirty="0" err="1"/>
              <a:t>conteos</a:t>
            </a:r>
            <a:r>
              <a:rPr lang="en-US" dirty="0"/>
              <a:t>.</a:t>
            </a:r>
          </a:p>
        </p:txBody>
      </p:sp>
      <p:sp>
        <p:nvSpPr>
          <p:cNvPr id="27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360 — Riesgo de Churn y Oportunidad de Upsell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D7C8C8CF-B98A-46B6-103F-866F7BA2E29A}"/>
              </a:ext>
            </a:extLst>
          </p:cNvPr>
          <p:cNvSpPr/>
          <p:nvPr/>
        </p:nvSpPr>
        <p:spPr>
          <a:xfrm>
            <a:off x="548640" y="676656"/>
            <a:ext cx="310896" cy="457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9641" y="3794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69641" y="8046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P5: clientes en riesgo alto por segmento, sobre el dataset de prueba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364134" y="15629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activos</a:t>
            </a:r>
            <a:endParaRPr lang="en-US" sz="1200" b="1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analizados (grano Gold)</a:t>
            </a:r>
            <a:endParaRPr lang="en-US" sz="1200" b="1" dirty="0"/>
          </a:p>
        </p:txBody>
      </p:sp>
      <p:sp>
        <p:nvSpPr>
          <p:cNvPr id="6" name="Text 4"/>
          <p:cNvSpPr txBox="1"/>
          <p:nvPr/>
        </p:nvSpPr>
        <p:spPr>
          <a:xfrm>
            <a:off x="3665064" y="1520891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177765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algn="ctr">
              <a:lnSpc>
                <a:spcPct val="115000"/>
              </a:lnSpc>
              <a:buNone/>
              <a:defRPr sz="1200" b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en churn_risk = Alto</a:t>
            </a:r>
          </a:p>
          <a:p>
            <a:r>
              <a:rPr lang="en-US" dirty="0"/>
              <a:t>(34% de los </a:t>
            </a:r>
            <a:r>
              <a:rPr lang="en-US" dirty="0" err="1"/>
              <a:t>activos</a:t>
            </a:r>
            <a:r>
              <a:rPr lang="en-US" dirty="0"/>
              <a:t>)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6922380" y="15361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algn="ctr">
              <a:lnSpc>
                <a:spcPct val="115000"/>
              </a:lnSpc>
              <a:buNone/>
              <a:defRPr sz="1200" b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con upsell_flag = true</a:t>
            </a:r>
          </a:p>
          <a:p>
            <a:r>
              <a:rPr lang="en-US" dirty="0"/>
              <a:t>(oportunidad de venta </a:t>
            </a:r>
            <a:r>
              <a:rPr lang="en-US" dirty="0" err="1"/>
              <a:t>cruzada</a:t>
            </a:r>
            <a:r>
              <a:rPr lang="en-US" dirty="0"/>
              <a:t>)</a:t>
            </a:r>
          </a:p>
        </p:txBody>
      </p:sp>
      <p:sp>
        <p:nvSpPr>
          <p:cNvPr id="10" name="Shape 8"/>
          <p:cNvSpPr/>
          <p:nvPr/>
        </p:nvSpPr>
        <p:spPr>
          <a:xfrm>
            <a:off x="9052560" y="1463040"/>
            <a:ext cx="0" cy="1188720"/>
          </a:xfrm>
          <a:prstGeom prst="line">
            <a:avLst/>
          </a:prstGeom>
          <a:noFill/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9052560" y="14538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con más clientes en riesgo Alto: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51464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 (4 clientes)</a:t>
            </a:r>
            <a:endParaRPr lang="en-US" dirty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3377691809"/>
              </p:ext>
            </p:extLst>
          </p:nvPr>
        </p:nvGraphicFramePr>
        <p:xfrm>
          <a:off x="548640" y="2834640"/>
          <a:ext cx="55778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6446520" y="2834640"/>
            <a:ext cx="4846320" cy="3063240"/>
          </a:xfrm>
          <a:prstGeom prst="roundRect">
            <a:avLst>
              <a:gd name="adj" fmla="val 1791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 txBox="1"/>
          <p:nvPr/>
        </p:nvSpPr>
        <p:spPr>
          <a:xfrm>
            <a:off x="6675120" y="29992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combinaciones segmento · ciudad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053810"/>
              </p:ext>
            </p:extLst>
          </p:nvPr>
        </p:nvGraphicFramePr>
        <p:xfrm>
          <a:off x="6675120" y="3429000"/>
          <a:ext cx="4846320" cy="22860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Segmento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Ciudad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Riesgo Alto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Satisf. prom.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Residencial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Pereira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2.00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Pyme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Pereira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3.00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Corporativo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Bucaramanga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Corporativo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Pereira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3.38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Pyme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Barranquilla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C4256"/>
                          </a:solidFill>
                        </a:rPr>
                        <a:t>2.00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 por riesgo Alto descendente, tal como pide P5. </a:t>
            </a:r>
            <a:r>
              <a:rPr lang="es-ES" sz="950" i="1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calculados sobre el </a:t>
            </a:r>
            <a:r>
              <a:rPr lang="es-ES" sz="950" i="1" dirty="0" err="1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ES" sz="950" i="1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prueba, replicando la lógica del pipeline Gold.</a:t>
            </a:r>
            <a:r>
              <a:rPr lang="en-US" sz="950" i="1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360 — Riesgo de Churn y Oportunidad de Upsell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38F6F1ED-5CFE-935E-FCBE-A644C252E579}"/>
              </a:ext>
            </a:extLst>
          </p:cNvPr>
          <p:cNvSpPr/>
          <p:nvPr/>
        </p:nvSpPr>
        <p:spPr>
          <a:xfrm>
            <a:off x="548640" y="676656"/>
            <a:ext cx="310896" cy="457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5334" y="33375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DATA CONTRACT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5334" y="883282"/>
            <a:ext cx="107277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cliente_360_churn_upsell se publica bajo contrato, no por convención</a:t>
            </a:r>
            <a:endParaRPr lang="en-US" sz="2600" dirty="0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58B64816-33B1-B298-156D-6D6414D097E8}"/>
              </a:ext>
            </a:extLst>
          </p:cNvPr>
          <p:cNvGrpSpPr/>
          <p:nvPr/>
        </p:nvGrpSpPr>
        <p:grpSpPr>
          <a:xfrm>
            <a:off x="548640" y="1881471"/>
            <a:ext cx="10744200" cy="1764792"/>
            <a:chOff x="548640" y="1709928"/>
            <a:chExt cx="10744200" cy="1764792"/>
          </a:xfrm>
        </p:grpSpPr>
        <p:sp>
          <p:nvSpPr>
            <p:cNvPr id="4" name="Shape 2"/>
            <p:cNvSpPr/>
            <p:nvPr/>
          </p:nvSpPr>
          <p:spPr>
            <a:xfrm>
              <a:off x="548640" y="1709928"/>
              <a:ext cx="3429000" cy="1764792"/>
            </a:xfrm>
            <a:prstGeom prst="roundRect">
              <a:avLst>
                <a:gd name="adj" fmla="val 3721"/>
              </a:avLst>
            </a:prstGeom>
            <a:solidFill>
              <a:srgbClr val="F4F5F9"/>
            </a:solidFill>
            <a:ln w="12700">
              <a:solidFill>
                <a:srgbClr val="E2E4EC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pic>
          <p:nvPicPr>
            <p:cNvPr id="5" name="Image 0" descr="/home/claude/icons/usershield_r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3712" y="1837944"/>
              <a:ext cx="310896" cy="310896"/>
            </a:xfrm>
            <a:prstGeom prst="rect">
              <a:avLst/>
            </a:prstGeom>
          </p:spPr>
        </p:pic>
        <p:sp>
          <p:nvSpPr>
            <p:cNvPr id="6" name="Text 3"/>
            <p:cNvSpPr txBox="1"/>
            <p:nvPr/>
          </p:nvSpPr>
          <p:spPr>
            <a:xfrm>
              <a:off x="1170432" y="1828800"/>
              <a:ext cx="260604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41B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Identidad y owner</a:t>
              </a:r>
              <a:endParaRPr lang="en-US" sz="1600" dirty="0"/>
            </a:p>
          </p:txBody>
        </p:sp>
        <p:sp>
          <p:nvSpPr>
            <p:cNvPr id="7" name="Text 4"/>
            <p:cNvSpPr txBox="1"/>
            <p:nvPr/>
          </p:nvSpPr>
          <p:spPr>
            <a:xfrm>
              <a:off x="768096" y="2194560"/>
              <a:ext cx="2990088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C42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Owner de negocio: Postpago Residencial. Owner técnico: Data Engineer del dominio. Versión 1.0.</a:t>
              </a:r>
              <a:endParaRPr lang="en-US" sz="12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4206240" y="1709928"/>
              <a:ext cx="3429000" cy="1764792"/>
            </a:xfrm>
            <a:prstGeom prst="roundRect">
              <a:avLst>
                <a:gd name="adj" fmla="val 3721"/>
              </a:avLst>
            </a:prstGeom>
            <a:solidFill>
              <a:srgbClr val="F4F5F9"/>
            </a:solidFill>
            <a:ln w="12700">
              <a:solidFill>
                <a:srgbClr val="E2E4EC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pic>
          <p:nvPicPr>
            <p:cNvPr id="9" name="Image 1" descr="/home/claude/icons/layers_r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25696" y="1927098"/>
              <a:ext cx="310896" cy="310896"/>
            </a:xfrm>
            <a:prstGeom prst="rect">
              <a:avLst/>
            </a:prstGeom>
          </p:spPr>
        </p:pic>
        <p:sp>
          <p:nvSpPr>
            <p:cNvPr id="10" name="Text 6"/>
            <p:cNvSpPr txBox="1"/>
            <p:nvPr/>
          </p:nvSpPr>
          <p:spPr>
            <a:xfrm>
              <a:off x="4849370" y="1828800"/>
              <a:ext cx="260604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indent="0">
                <a:buNone/>
                <a:defRPr sz="1600" b="1">
                  <a:solidFill>
                    <a:srgbClr val="141B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defRPr>
              </a:lvl1pPr>
            </a:lstStyle>
            <a:p>
              <a:r>
                <a:rPr lang="en-US" dirty="0" err="1"/>
                <a:t>Esquema</a:t>
              </a:r>
              <a:r>
                <a:rPr lang="en-US" dirty="0"/>
                <a:t> </a:t>
              </a:r>
              <a:r>
                <a:rPr lang="en-US" dirty="0" err="1"/>
                <a:t>publicado</a:t>
              </a:r>
              <a:endParaRPr lang="en-US" dirty="0"/>
            </a:p>
          </p:txBody>
        </p:sp>
        <p:sp>
          <p:nvSpPr>
            <p:cNvPr id="11" name="Text 7"/>
            <p:cNvSpPr txBox="1"/>
            <p:nvPr/>
          </p:nvSpPr>
          <p:spPr>
            <a:xfrm>
              <a:off x="4425696" y="2194560"/>
              <a:ext cx="2990088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indent="0">
                <a:lnSpc>
                  <a:spcPct val="120000"/>
                </a:lnSpc>
                <a:buNone/>
                <a:defRPr sz="1200">
                  <a:solidFill>
                    <a:srgbClr val="3C42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defRPr>
              </a:lvl1pPr>
            </a:lstStyle>
            <a:p>
              <a:r>
                <a:rPr lang="en-US" dirty="0"/>
                <a:t>14 columnas con tipo, descripción y regla de negocio explícita (ej. pqr_abiertos ≤ </a:t>
              </a:r>
              <a:r>
                <a:rPr lang="en-US" dirty="0" err="1"/>
                <a:t>total_pqr</a:t>
              </a:r>
              <a:r>
                <a:rPr lang="en-US" dirty="0"/>
                <a:t>).</a:t>
              </a:r>
            </a:p>
          </p:txBody>
        </p:sp>
        <p:sp>
          <p:nvSpPr>
            <p:cNvPr id="12" name="Shape 8"/>
            <p:cNvSpPr/>
            <p:nvPr/>
          </p:nvSpPr>
          <p:spPr>
            <a:xfrm>
              <a:off x="7863840" y="1709928"/>
              <a:ext cx="3429000" cy="1764792"/>
            </a:xfrm>
            <a:prstGeom prst="roundRect">
              <a:avLst>
                <a:gd name="adj" fmla="val 3721"/>
              </a:avLst>
            </a:prstGeom>
            <a:solidFill>
              <a:srgbClr val="F4F5F9"/>
            </a:solidFill>
            <a:ln w="12700">
              <a:solidFill>
                <a:srgbClr val="E2E4EC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pic>
          <p:nvPicPr>
            <p:cNvPr id="13" name="Image 2" descr="/home/claude/icons/clock_r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01584" y="1842236"/>
              <a:ext cx="310896" cy="310896"/>
            </a:xfrm>
            <a:prstGeom prst="rect">
              <a:avLst/>
            </a:prstGeom>
          </p:spPr>
        </p:pic>
        <p:sp>
          <p:nvSpPr>
            <p:cNvPr id="14" name="Text 9"/>
            <p:cNvSpPr txBox="1"/>
            <p:nvPr/>
          </p:nvSpPr>
          <p:spPr>
            <a:xfrm>
              <a:off x="8485632" y="1795303"/>
              <a:ext cx="260604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indent="0">
                <a:buNone/>
                <a:defRPr sz="1600" b="1">
                  <a:solidFill>
                    <a:srgbClr val="141B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defRPr>
              </a:lvl1pPr>
            </a:lstStyle>
            <a:p>
              <a:r>
                <a:rPr lang="en-US" dirty="0"/>
                <a:t>SLA</a:t>
              </a:r>
            </a:p>
          </p:txBody>
        </p:sp>
        <p:sp>
          <p:nvSpPr>
            <p:cNvPr id="15" name="Text 10"/>
            <p:cNvSpPr txBox="1"/>
            <p:nvPr/>
          </p:nvSpPr>
          <p:spPr>
            <a:xfrm>
              <a:off x="8083296" y="2194560"/>
              <a:ext cx="2990088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indent="0">
                <a:lnSpc>
                  <a:spcPct val="120000"/>
                </a:lnSpc>
                <a:buNone/>
                <a:defRPr sz="1200">
                  <a:solidFill>
                    <a:srgbClr val="3C42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defRPr>
              </a:lvl1pPr>
            </a:lstStyle>
            <a:p>
              <a:r>
                <a:rPr lang="en-US" dirty="0"/>
                <a:t>Batch diario, disponible antes de 08:00 (Colombia), frescura máxima 24h, retraso tolerado 2h.</a:t>
              </a:r>
            </a:p>
          </p:txBody>
        </p:sp>
      </p:grpSp>
      <p:sp>
        <p:nvSpPr>
          <p:cNvPr id="16" name="Shape 11"/>
          <p:cNvSpPr/>
          <p:nvPr/>
        </p:nvSpPr>
        <p:spPr>
          <a:xfrm>
            <a:off x="548640" y="3854196"/>
            <a:ext cx="3429000" cy="1787652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7" name="Image 3" descr="/home/claude/icons/check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137660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52144" y="4079437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buNone/>
              <a:defRPr sz="1600" b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Reglas </a:t>
            </a:r>
            <a:r>
              <a:rPr lang="en-US" dirty="0" err="1"/>
              <a:t>críticas</a:t>
            </a:r>
            <a:endParaRPr lang="en-US" dirty="0"/>
          </a:p>
        </p:txBody>
      </p:sp>
      <p:sp>
        <p:nvSpPr>
          <p:cNvPr id="19" name="Text 13"/>
          <p:cNvSpPr txBox="1"/>
          <p:nvPr/>
        </p:nvSpPr>
        <p:spPr>
          <a:xfrm>
            <a:off x="768096" y="4361688"/>
            <a:ext cx="2990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lnSpc>
                <a:spcPct val="120000"/>
              </a:lnSpc>
              <a:buNone/>
              <a:defRPr sz="120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Gold no vacío, id_cliente no nulo y único, churn_risk en dominio válido → bloquean la </a:t>
            </a:r>
            <a:r>
              <a:rPr lang="en-US" dirty="0" err="1"/>
              <a:t>publicación</a:t>
            </a:r>
            <a:r>
              <a:rPr lang="en-US" dirty="0"/>
              <a:t>.</a:t>
            </a:r>
          </a:p>
        </p:txBody>
      </p:sp>
      <p:sp>
        <p:nvSpPr>
          <p:cNvPr id="20" name="Shape 14"/>
          <p:cNvSpPr/>
          <p:nvPr/>
        </p:nvSpPr>
        <p:spPr>
          <a:xfrm>
            <a:off x="4206240" y="3840480"/>
            <a:ext cx="3429000" cy="1801368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1" name="Image 4" descr="/home/claude/icons/search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984" y="4137660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828032" y="40645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buNone/>
              <a:defRPr sz="1600" b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Reglas de </a:t>
            </a:r>
            <a:r>
              <a:rPr lang="en-US" dirty="0" err="1"/>
              <a:t>monitoreo</a:t>
            </a:r>
            <a:endParaRPr lang="en-US" dirty="0"/>
          </a:p>
        </p:txBody>
      </p:sp>
      <p:sp>
        <p:nvSpPr>
          <p:cNvPr id="23" name="Text 16"/>
          <p:cNvSpPr txBox="1"/>
          <p:nvPr/>
        </p:nvSpPr>
        <p:spPr>
          <a:xfrm>
            <a:off x="4425696" y="4361688"/>
            <a:ext cx="2990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lnSpc>
                <a:spcPct val="120000"/>
              </a:lnSpc>
              <a:buNone/>
              <a:defRPr sz="120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s-ES" dirty="0"/>
              <a:t>Satisfacción promedio fuera de 1–5 o sin PQR asociados → se registra como métrica de monitoreo, no bloquea la publicación.</a:t>
            </a: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7863840" y="3840480"/>
            <a:ext cx="3429000" cy="1801368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5" name="Image 5" descr="/home/claude/icons/shield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0436" y="4116013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485632" y="4079437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buNone/>
              <a:defRPr sz="1600" b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Seguridad y </a:t>
            </a:r>
            <a:r>
              <a:rPr lang="en-US" dirty="0" err="1"/>
              <a:t>acceso</a:t>
            </a:r>
            <a:endParaRPr lang="en-US" dirty="0"/>
          </a:p>
        </p:txBody>
      </p:sp>
      <p:sp>
        <p:nvSpPr>
          <p:cNvPr id="27" name="Text 19"/>
          <p:cNvSpPr txBox="1"/>
          <p:nvPr/>
        </p:nvSpPr>
        <p:spPr>
          <a:xfrm>
            <a:off x="8083296" y="4361688"/>
            <a:ext cx="2990088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>
              <a:lnSpc>
                <a:spcPct val="120000"/>
              </a:lnSpc>
              <a:buNone/>
              <a:defRPr sz="120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Sin PII en Gold (no documento ni nombre_completo). Mercadeo Digital consume vista autorizada, mínimo privilegio.</a:t>
            </a:r>
          </a:p>
        </p:txBody>
      </p:sp>
      <p:sp>
        <p:nvSpPr>
          <p:cNvPr id="28" name="Text 2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360 — Riesgo de Churn y Oportunidad de Upsell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256124B1-7C09-1B51-2272-7A6663F150AE}"/>
              </a:ext>
            </a:extLst>
          </p:cNvPr>
          <p:cNvSpPr/>
          <p:nvPr/>
        </p:nvSpPr>
        <p:spPr>
          <a:xfrm>
            <a:off x="548640" y="676656"/>
            <a:ext cx="310896" cy="457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1584" y="359633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SIGUIENTES PASOS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955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prueba batch reproducible a pipeline incremental de producción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52078"/>
            <a:ext cx="457200" cy="457200"/>
          </a:xfrm>
          <a:prstGeom prst="ellipse">
            <a:avLst/>
          </a:prstGeom>
          <a:solidFill>
            <a:srgbClr val="F4F5F9"/>
          </a:solidFill>
          <a:ln w="1524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/home/claude/icons/clo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76479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5819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incremental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70432" y="194767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inmutable por entidad y lote. Auto Loader procesa archivos nuevos; </a:t>
            </a:r>
            <a:r>
              <a:rPr lang="es-E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control de hash evitan reproceso, duplicidad u omisión tras una falla.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F4F5F9"/>
          </a:solidFill>
          <a:ln w="1524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Image 1" descr="/home/claude/icons/layers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11810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70432" y="2999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</a:t>
            </a:r>
            <a:r>
              <a:rPr lang="en-US" sz="13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50" b="1" dirty="0" err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170432" y="336499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MERGE por llave y Change Data </a:t>
            </a:r>
            <a:r>
              <a:rPr lang="es-E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Uso/PQR para identificar clientes impactados y recalcular Gold selectivamente, en lugar de reconstruir toda la población.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F4F5F9"/>
          </a:solidFill>
          <a:ln w="1524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9"/>
          <p:cNvSpPr txBox="1"/>
          <p:nvPr/>
        </p:nvSpPr>
        <p:spPr>
          <a:xfrm>
            <a:off x="1170432" y="44165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r>
              <a:rPr lang="en-US" sz="13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50" b="1" dirty="0" err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3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FinOps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170432" y="47823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Catalog: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linaje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RBAC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ABAC, masking o dynamic views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FinOps: serverless/job compute, autoscaling,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tags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89320" y="1600200"/>
            <a:ext cx="457200" cy="457200"/>
          </a:xfrm>
          <a:prstGeom prst="ellipse">
            <a:avLst/>
          </a:prstGeom>
          <a:solidFill>
            <a:srgbClr val="F4F5F9"/>
          </a:solidFill>
          <a:ln w="1524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2"/>
          <p:cNvSpPr txBox="1"/>
          <p:nvPr/>
        </p:nvSpPr>
        <p:spPr>
          <a:xfrm>
            <a:off x="6611112" y="15819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</a:t>
            </a:r>
            <a:r>
              <a:rPr lang="en-US" sz="1350" b="1" dirty="0" err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r>
              <a:rPr lang="en-US" sz="13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50" b="1" dirty="0" err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6611112" y="194767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Bronze–Silver–Gold a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Declarative Pipelines (DLT):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administradas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expectations,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cuarentena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controlada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data contract.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89320" y="3017520"/>
            <a:ext cx="457200" cy="457200"/>
          </a:xfrm>
          <a:prstGeom prst="ellipse">
            <a:avLst/>
          </a:prstGeom>
          <a:solidFill>
            <a:srgbClr val="F4F5F9"/>
          </a:solidFill>
          <a:ln w="1524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1" name="Image 4" descr="/home/claude/icons/database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4" y="311810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611112" y="2999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y ciclo de vida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6611112" y="336499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Clustering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id_cliente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id_producto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OPTIMIZE/ZORDER. Deletion Vectors para MERGE y VACUUM con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alineada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</a:t>
            </a:r>
            <a:r>
              <a:rPr lang="en-U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CDF.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989320" y="4434840"/>
            <a:ext cx="457200" cy="457200"/>
          </a:xfrm>
          <a:prstGeom prst="ellipse">
            <a:avLst/>
          </a:prstGeom>
          <a:solidFill>
            <a:srgbClr val="F4F5F9"/>
          </a:solidFill>
          <a:ln w="1524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5" descr="/home/claude/icons/chart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4535424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611112" y="44165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r>
              <a:rPr lang="en-US" sz="13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50" b="1" dirty="0" err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r>
              <a:rPr lang="en-US" sz="13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50" b="1" dirty="0" err="1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6611112" y="47823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manual validado; en producción, </a:t>
            </a:r>
            <a:r>
              <a:rPr lang="es-E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según SLA, una ejecución concurrente, reintentos y alertas. Medir volumen, calidad, rechazos, frescura, duración, SLA y costo. Git + </a:t>
            </a:r>
            <a:r>
              <a:rPr lang="es-E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</a:t>
            </a: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despliegue; </a:t>
            </a:r>
            <a:r>
              <a:rPr lang="es-E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infraestructura y permisos.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623560" y="1600200"/>
            <a:ext cx="0" cy="4114800"/>
          </a:xfrm>
          <a:prstGeom prst="line">
            <a:avLst/>
          </a:prstGeom>
          <a:noFill/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360 — Riesgo de Churn y Oportunidad de Upsell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7C387F8B-06C7-66FC-3D77-C00798294BA4}"/>
              </a:ext>
            </a:extLst>
          </p:cNvPr>
          <p:cNvSpPr/>
          <p:nvPr/>
        </p:nvSpPr>
        <p:spPr>
          <a:xfrm>
            <a:off x="548640" y="676656"/>
            <a:ext cx="310896" cy="457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4" name="Image 2" descr="/home/claude/icons/cogs_red.png">
            <a:extLst>
              <a:ext uri="{FF2B5EF4-FFF2-40B4-BE49-F238E27FC236}">
                <a16:creationId xmlns:a16="http://schemas.microsoft.com/office/drawing/2014/main" id="{193B9169-3E2F-F510-49B8-1E7AF7FE4B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03" y="4495862"/>
            <a:ext cx="295594" cy="295594"/>
          </a:xfrm>
          <a:prstGeom prst="rect">
            <a:avLst/>
          </a:prstGeom>
        </p:spPr>
      </p:pic>
      <p:pic>
        <p:nvPicPr>
          <p:cNvPr id="31" name="Image 0" descr="/home/claude/icons/sitemap_red.png">
            <a:extLst>
              <a:ext uri="{FF2B5EF4-FFF2-40B4-BE49-F238E27FC236}">
                <a16:creationId xmlns:a16="http://schemas.microsoft.com/office/drawing/2014/main" id="{566B7E74-338C-CE71-9DC7-949FE18972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4121" y="1648937"/>
            <a:ext cx="327598" cy="3275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9872" y="3566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RETOS ENCONTRADOS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Retos técnicos y decisiones de diseño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/home/claude/icons/clo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562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8013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Entendimiento del caso y del producto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377440"/>
            <a:ext cx="47457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reto fue traducir la necesidad comercial —retención y venta cruzada— en un producto Gold con grano definido: un registro por cliente activo, aun cuando no tuviera uso o PQR.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/home/claude/icons/search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8562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49440" y="18013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Perfilamiento y comprensión de la fuente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428232" y="2377440"/>
            <a:ext cx="47457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fuentes debían analizarse antes de transformar: estructura, tipos reales, nulos, duplicados, formatos de fecha, valores fuera de rango y relaciones entre clientes, productos, uso y PQR.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8404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9"/>
          <p:cNvSpPr txBox="1"/>
          <p:nvPr/>
        </p:nvSpPr>
        <p:spPr>
          <a:xfrm>
            <a:off x="1325880" y="40416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negocio sin owner presente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804672" y="4617720"/>
            <a:ext cx="47457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necesario definir qué normalizar, qué imputar y qué aislar. Ciudad vacía se trató como “No informado”, estrato nulo con mediana y uso inválido se envió a cuarentena para no distorsionar </a:t>
            </a:r>
            <a:r>
              <a:rPr lang="es-E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 </a:t>
            </a:r>
            <a:r>
              <a:rPr lang="es-E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</a:t>
            </a: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72200" y="38404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 w="12700">
            <a:solidFill>
              <a:srgbClr val="E2E4EC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2"/>
          <p:cNvSpPr txBox="1"/>
          <p:nvPr/>
        </p:nvSpPr>
        <p:spPr>
          <a:xfrm>
            <a:off x="6949440" y="40416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3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reglas de negocio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6428232" y="4617720"/>
            <a:ext cx="47457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</a:t>
            </a:r>
            <a:r>
              <a:rPr lang="es-E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" sz="1100" dirty="0" err="1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</a:t>
            </a:r>
            <a:r>
              <a:rPr lang="es-ES" sz="1100" dirty="0">
                <a:solidFill>
                  <a:srgbClr val="3C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exigían decisiones explícitas: ventana temporal reproducible, promedio de incidencias, producto actual y extracción de capacidad desde el nombre del plan.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360 — Riesgo de Churn y Oportunidad de Upsell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5C4C62C9-878A-B14C-7176-1CF705B5FABA}"/>
              </a:ext>
            </a:extLst>
          </p:cNvPr>
          <p:cNvSpPr/>
          <p:nvPr/>
        </p:nvSpPr>
        <p:spPr>
          <a:xfrm>
            <a:off x="548640" y="676656"/>
            <a:ext cx="310896" cy="45720"/>
          </a:xfrm>
          <a:prstGeom prst="rect">
            <a:avLst/>
          </a:prstGeom>
          <a:solidFill>
            <a:srgbClr val="E4002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4" name="Image 0" descr="/home/claude/icons/warning_red.png">
            <a:extLst>
              <a:ext uri="{FF2B5EF4-FFF2-40B4-BE49-F238E27FC236}">
                <a16:creationId xmlns:a16="http://schemas.microsoft.com/office/drawing/2014/main" id="{7DC1BFAD-A665-09D4-A895-4BF94951AA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087368"/>
            <a:ext cx="457200" cy="457200"/>
          </a:xfrm>
          <a:prstGeom prst="rect">
            <a:avLst/>
          </a:prstGeom>
        </p:spPr>
      </p:pic>
      <p:sp>
        <p:nvSpPr>
          <p:cNvPr id="26" name="Text 26">
            <a:extLst>
              <a:ext uri="{FF2B5EF4-FFF2-40B4-BE49-F238E27FC236}">
                <a16:creationId xmlns:a16="http://schemas.microsoft.com/office/drawing/2014/main" id="{8DF7C008-50C8-69F1-C71D-3BC8B890C57F}"/>
              </a:ext>
            </a:extLst>
          </p:cNvPr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50" i="1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quedó documentada, trazable en el pipeline y validada antes de publicar Gold.</a:t>
            </a:r>
            <a:endParaRPr lang="en-US" sz="1050" dirty="0"/>
          </a:p>
        </p:txBody>
      </p:sp>
      <p:pic>
        <p:nvPicPr>
          <p:cNvPr id="28" name="Image 6" descr="/home/claude/icons/contract_red.png">
            <a:extLst>
              <a:ext uri="{FF2B5EF4-FFF2-40B4-BE49-F238E27FC236}">
                <a16:creationId xmlns:a16="http://schemas.microsoft.com/office/drawing/2014/main" id="{34D27F91-DFAF-8BB8-6152-2AFFF663C9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524" y="4087368"/>
            <a:ext cx="42976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A45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/home/claude/icons/che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337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B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360° — de un ejercicio de prueba a un producto de datos con owner, contrato y ruta clara a producción.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4069080"/>
            <a:ext cx="2011680" cy="0"/>
          </a:xfrm>
          <a:prstGeom prst="line">
            <a:avLst/>
          </a:prstGeom>
          <a:noFill/>
          <a:ln w="381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 txBox="1"/>
          <p:nvPr/>
        </p:nvSpPr>
        <p:spPr>
          <a:xfrm>
            <a:off x="82296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discusión abierta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1541</Words>
  <Application>Microsoft Office PowerPoint</Application>
  <PresentationFormat>Panorámica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RICARDO SUAREZ MONTAÑA</cp:lastModifiedBy>
  <cp:revision>20</cp:revision>
  <dcterms:created xsi:type="dcterms:W3CDTF">2026-09-11T22:18:20Z</dcterms:created>
  <dcterms:modified xsi:type="dcterms:W3CDTF">2026-09-13T13:47:57Z</dcterms:modified>
</cp:coreProperties>
</file>